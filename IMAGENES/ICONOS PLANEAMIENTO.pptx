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900"/>
    <a:srgbClr val="052543"/>
    <a:srgbClr val="05B700"/>
    <a:srgbClr val="0940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B6F81-AB23-91F3-510E-253B04967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9C5EC1-4618-1FB9-3512-511866889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562AC8-FBF5-11D9-CFAD-19E75B301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7D73C4-9BB9-ED67-E68E-0C0407E1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3114C2-9115-C906-4732-0230DF24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94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77B8C-F150-1A63-F1B4-EAC03BFA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6D7C27-E774-DA44-6EAF-C27084751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36FBC6-3DEB-C4D7-5F67-9BD63EF4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3F5C98-F2E5-FEFF-F637-EB47BB24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090ADF-0BA4-7FAE-360B-AC218AF9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0643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F7E35-FDB9-FD06-71D3-5F51B70B8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AD373-2647-4B1F-99BA-FC51A0DAC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30CEA9-34F2-F932-1A96-2ADB5A6E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BB0764-929F-4233-EAB1-E5BC5185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119C91-0A9F-51AD-E4A1-972C7D6F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426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78530-D1A9-E515-6A90-BD1C7CA08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DC4396-6070-40C2-D1C5-4D9276115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469C7F-5C2D-5732-155C-A31F1F3F4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336E60-3172-E2E6-8713-AB384564D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6161FE-EBB9-D2DA-102E-67A4D784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F9560B-F481-B811-A64B-7914F3F2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313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F82D-CBB7-6C37-D430-75DC5FAA9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F7173C-5C2B-627E-2051-3BE5DBA64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B7DF00-BDD6-D082-1493-5C5F1CC0E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F9AB4C-BA2A-F78D-7DF0-BBF88031A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08A8FA-0087-6B14-2F63-B3FC09851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F1A4375-02D6-0C48-26C7-E96DC7EF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2B9281-2258-84C5-3933-E1DC973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4DFB7B-2577-D923-262A-88F1D7F4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6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A7AC-5BFD-FE94-F526-7E16BE91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14CF8C3-4269-B74F-35D5-D544F83C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FE8E44-79E8-B6E2-7C20-5950EFDC4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C5C3CD-7689-900D-141A-4E740DEF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524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81EA3C-9C40-A1EB-0759-B46E8F69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D3B515-7551-1E5D-D07D-2D8CAEC2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E070FC-3875-9B83-0E9C-2BEAC2B9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561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4E6D4-83E0-CE83-F643-E659D0AF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D685F-A262-CBE3-882D-22D563618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4312C4-0DE5-8C93-ABB3-450E91BF2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D9C2D1-6B4B-F8F8-C6EC-4B4056AD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C95B13-9D46-257A-793E-4108FCAA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AA292E-A269-077A-62DA-A8FB3430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2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58134-C39D-31F0-A746-DD3E11A5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3C577D-3074-67BF-3974-9719FE702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25308A-C630-5D05-335F-871A0049C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85ADB-011F-750D-2D10-9AB86F89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D310F5-6530-B185-9BF6-967F8CED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6B5ACB-009A-805A-8283-EDFFAFB3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838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7C023-08CD-C72F-D4C1-6B6CFF4F1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ECCA7F-E46C-76F1-9A35-B72D2C1B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2A16B9-2D78-E859-C137-773BF1DA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C2348A-376E-4760-058F-ED76FD81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9BD87D-69C5-D3F3-B13F-8870E2F2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05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53A23F-80DE-0F48-0EBA-F02857B65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81A4DC-5E1E-9001-9A0A-90FCCAC7D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04FE3-AB5C-C691-2713-AE9EEC90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9D202-23D8-F629-682A-D6A43BA4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D2872-A664-8F58-7246-C519DC1E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913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996371-7D3F-BCF1-8D8B-C90459142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A2956B-B5C6-72B3-E16D-992904D23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31C72B-B2A7-E7B8-7326-E2B6DC8AF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CBF32-4DDC-4E96-8A53-192A9CFFB12A}" type="datetimeFigureOut">
              <a:rPr lang="es-CO" smtClean="0"/>
              <a:t>15/01/2026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61F468-EC4E-DBE4-CF58-9480793AA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27D355-1627-E52B-720E-2FEE29A88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EEAA0-9B11-4E91-8ACC-0C7A6BEEA5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126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26" Type="http://schemas.openxmlformats.org/officeDocument/2006/relationships/image" Target="../media/image37.png"/><Relationship Id="rId3" Type="http://schemas.openxmlformats.org/officeDocument/2006/relationships/image" Target="../media/image15.svg"/><Relationship Id="rId21" Type="http://schemas.openxmlformats.org/officeDocument/2006/relationships/image" Target="../media/image33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5" Type="http://schemas.openxmlformats.org/officeDocument/2006/relationships/image" Target="../media/image36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24" Type="http://schemas.openxmlformats.org/officeDocument/2006/relationships/image" Target="../media/image9.pn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23" Type="http://schemas.openxmlformats.org/officeDocument/2006/relationships/image" Target="../media/image35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8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12" Type="http://schemas.openxmlformats.org/officeDocument/2006/relationships/image" Target="../media/image4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2.svg"/><Relationship Id="rId5" Type="http://schemas.openxmlformats.org/officeDocument/2006/relationships/image" Target="../media/image42.svg"/><Relationship Id="rId15" Type="http://schemas.openxmlformats.org/officeDocument/2006/relationships/image" Target="../media/image50.svg"/><Relationship Id="rId10" Type="http://schemas.openxmlformats.org/officeDocument/2006/relationships/image" Target="../media/image1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DAE13D4C-122A-7C9A-6A4A-277BBA8D83B5}"/>
              </a:ext>
            </a:extLst>
          </p:cNvPr>
          <p:cNvGrpSpPr/>
          <p:nvPr/>
        </p:nvGrpSpPr>
        <p:grpSpPr>
          <a:xfrm>
            <a:off x="9094583" y="57464"/>
            <a:ext cx="2443397" cy="1922116"/>
            <a:chOff x="8744261" y="563381"/>
            <a:chExt cx="2443397" cy="1922116"/>
          </a:xfrm>
        </p:grpSpPr>
        <p:pic>
          <p:nvPicPr>
            <p:cNvPr id="5" name="Gráfico 4" descr="Aula de clases con relleno sólido">
              <a:extLst>
                <a:ext uri="{FF2B5EF4-FFF2-40B4-BE49-F238E27FC236}">
                  <a16:creationId xmlns:a16="http://schemas.microsoft.com/office/drawing/2014/main" id="{EB3FB13B-E606-B016-B0CE-B3BFCC75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8911" y="563381"/>
              <a:ext cx="1374098" cy="1374098"/>
            </a:xfrm>
            <a:prstGeom prst="rect">
              <a:avLst/>
            </a:prstGeom>
          </p:spPr>
        </p:pic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FF58B45A-0086-4358-A4F5-36E5C3286F3F}"/>
                </a:ext>
              </a:extLst>
            </p:cNvPr>
            <p:cNvSpPr/>
            <p:nvPr/>
          </p:nvSpPr>
          <p:spPr>
            <a:xfrm>
              <a:off x="8744261" y="1839166"/>
              <a:ext cx="2443397" cy="646331"/>
            </a:xfrm>
            <a:prstGeom prst="roundRect">
              <a:avLst/>
            </a:prstGeom>
            <a:solidFill>
              <a:srgbClr val="052543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Infraestructura Educativa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C204B4F-9ED7-040F-81E1-49A679F35611}"/>
              </a:ext>
            </a:extLst>
          </p:cNvPr>
          <p:cNvGrpSpPr/>
          <p:nvPr/>
        </p:nvGrpSpPr>
        <p:grpSpPr>
          <a:xfrm>
            <a:off x="5902817" y="-145717"/>
            <a:ext cx="2683241" cy="2414042"/>
            <a:chOff x="3412758" y="2741951"/>
            <a:chExt cx="2683241" cy="2414042"/>
          </a:xfrm>
        </p:grpSpPr>
        <p:pic>
          <p:nvPicPr>
            <p:cNvPr id="21" name="Gráfico 20" descr="Aula de clases con relleno sólido">
              <a:extLst>
                <a:ext uri="{FF2B5EF4-FFF2-40B4-BE49-F238E27FC236}">
                  <a16:creationId xmlns:a16="http://schemas.microsoft.com/office/drawing/2014/main" id="{15B9EEE9-516E-E33F-EF89-289967764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9883" y="2741951"/>
              <a:ext cx="1374098" cy="1374098"/>
            </a:xfrm>
            <a:prstGeom prst="rect">
              <a:avLst/>
            </a:prstGeom>
          </p:spPr>
        </p:pic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443097A3-E5A9-1C05-1ED5-59CA93A57F23}"/>
                </a:ext>
              </a:extLst>
            </p:cNvPr>
            <p:cNvSpPr/>
            <p:nvPr/>
          </p:nvSpPr>
          <p:spPr>
            <a:xfrm>
              <a:off x="3412758" y="4052966"/>
              <a:ext cx="2683241" cy="1103027"/>
            </a:xfrm>
            <a:prstGeom prst="roundRect">
              <a:avLst/>
            </a:prstGeom>
            <a:solidFill>
              <a:srgbClr val="0940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Planes de Acción Infraestructura Educativa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BCBDE36B-3885-A747-F136-C6F792CC4DC5}"/>
              </a:ext>
            </a:extLst>
          </p:cNvPr>
          <p:cNvGrpSpPr/>
          <p:nvPr/>
        </p:nvGrpSpPr>
        <p:grpSpPr>
          <a:xfrm>
            <a:off x="5945293" y="2268325"/>
            <a:ext cx="2443396" cy="1937108"/>
            <a:chOff x="884421" y="263577"/>
            <a:chExt cx="2443396" cy="1937108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A884AB45-5B97-EDD7-D215-BF3C6791026C}"/>
                </a:ext>
              </a:extLst>
            </p:cNvPr>
            <p:cNvSpPr/>
            <p:nvPr/>
          </p:nvSpPr>
          <p:spPr>
            <a:xfrm>
              <a:off x="884421" y="1554353"/>
              <a:ext cx="2443396" cy="646332"/>
            </a:xfrm>
            <a:prstGeom prst="roundRect">
              <a:avLst/>
            </a:prstGeom>
            <a:solidFill>
              <a:srgbClr val="0940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STEM+</a:t>
              </a:r>
            </a:p>
          </p:txBody>
        </p:sp>
        <p:pic>
          <p:nvPicPr>
            <p:cNvPr id="7" name="Gráfico 6" descr="Robot con relleno sólido">
              <a:extLst>
                <a:ext uri="{FF2B5EF4-FFF2-40B4-BE49-F238E27FC236}">
                  <a16:creationId xmlns:a16="http://schemas.microsoft.com/office/drawing/2014/main" id="{C56F172E-4C28-ED93-3392-565F10E87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19070" y="263577"/>
              <a:ext cx="1374098" cy="1374098"/>
            </a:xfrm>
            <a:prstGeom prst="rect">
              <a:avLst/>
            </a:prstGeom>
          </p:spPr>
        </p:pic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0E4358BF-A04A-4686-0104-D5FEEC863042}"/>
              </a:ext>
            </a:extLst>
          </p:cNvPr>
          <p:cNvGrpSpPr/>
          <p:nvPr/>
        </p:nvGrpSpPr>
        <p:grpSpPr>
          <a:xfrm>
            <a:off x="3041788" y="2099553"/>
            <a:ext cx="2683241" cy="1901179"/>
            <a:chOff x="7402640" y="3311651"/>
            <a:chExt cx="2683241" cy="1901179"/>
          </a:xfrm>
        </p:grpSpPr>
        <p:pic>
          <p:nvPicPr>
            <p:cNvPr id="10" name="Gráfico 9" descr="Escena de una granja con relleno sólido">
              <a:extLst>
                <a:ext uri="{FF2B5EF4-FFF2-40B4-BE49-F238E27FC236}">
                  <a16:creationId xmlns:a16="http://schemas.microsoft.com/office/drawing/2014/main" id="{9C733347-2D69-3EE0-8874-A15FF2B22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56661" y="3311651"/>
              <a:ext cx="1375200" cy="1375200"/>
            </a:xfrm>
            <a:prstGeom prst="rect">
              <a:avLst/>
            </a:prstGeom>
          </p:spPr>
        </p:pic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9A13CC78-6117-4254-1A54-40227E4FD999}"/>
                </a:ext>
              </a:extLst>
            </p:cNvPr>
            <p:cNvSpPr/>
            <p:nvPr/>
          </p:nvSpPr>
          <p:spPr>
            <a:xfrm>
              <a:off x="7402640" y="4566498"/>
              <a:ext cx="2683241" cy="646332"/>
            </a:xfrm>
            <a:prstGeom prst="roundRect">
              <a:avLst/>
            </a:prstGeom>
            <a:solidFill>
              <a:srgbClr val="0940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Cumplimento Norma NSR10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0D8BDA6-DE03-FAAB-53F2-4ECDDFFDE275}"/>
              </a:ext>
            </a:extLst>
          </p:cNvPr>
          <p:cNvGrpSpPr/>
          <p:nvPr/>
        </p:nvGrpSpPr>
        <p:grpSpPr>
          <a:xfrm>
            <a:off x="2864001" y="-197931"/>
            <a:ext cx="2683241" cy="2466256"/>
            <a:chOff x="4754379" y="143283"/>
            <a:chExt cx="2683241" cy="2466256"/>
          </a:xfrm>
        </p:grpSpPr>
        <p:pic>
          <p:nvPicPr>
            <p:cNvPr id="6" name="Gráfico 5" descr="Mapa con marcador con relleno sólido">
              <a:extLst>
                <a:ext uri="{FF2B5EF4-FFF2-40B4-BE49-F238E27FC236}">
                  <a16:creationId xmlns:a16="http://schemas.microsoft.com/office/drawing/2014/main" id="{F8E12909-4AF3-18F3-F9F6-EB4466F92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67608" y="143283"/>
              <a:ext cx="1501887" cy="1501887"/>
            </a:xfrm>
            <a:prstGeom prst="rect">
              <a:avLst/>
            </a:prstGeom>
          </p:spPr>
        </p:pic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637BF77A-3228-9B3C-E25C-0AB0CD5AAC20}"/>
                </a:ext>
              </a:extLst>
            </p:cNvPr>
            <p:cNvSpPr/>
            <p:nvPr/>
          </p:nvSpPr>
          <p:spPr>
            <a:xfrm>
              <a:off x="4754379" y="1506512"/>
              <a:ext cx="2683241" cy="1103027"/>
            </a:xfrm>
            <a:prstGeom prst="roundRect">
              <a:avLst/>
            </a:prstGeom>
            <a:solidFill>
              <a:srgbClr val="0940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Regionalización Inversión 09/2025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A5C840E-6042-A8AA-C8C0-B4BACAECFE64}"/>
              </a:ext>
            </a:extLst>
          </p:cNvPr>
          <p:cNvGrpSpPr/>
          <p:nvPr/>
        </p:nvGrpSpPr>
        <p:grpSpPr>
          <a:xfrm>
            <a:off x="-11244" y="1784028"/>
            <a:ext cx="2683241" cy="1915845"/>
            <a:chOff x="326311" y="2858403"/>
            <a:chExt cx="2683241" cy="1915845"/>
          </a:xfrm>
        </p:grpSpPr>
        <p:pic>
          <p:nvPicPr>
            <p:cNvPr id="16" name="Gráfico 15" descr="Bombilla y equipo con relleno sólido">
              <a:extLst>
                <a:ext uri="{FF2B5EF4-FFF2-40B4-BE49-F238E27FC236}">
                  <a16:creationId xmlns:a16="http://schemas.microsoft.com/office/drawing/2014/main" id="{F08EFF09-B846-67AD-B5CB-943BD9A71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4873" y="2858403"/>
              <a:ext cx="1266115" cy="1266115"/>
            </a:xfrm>
            <a:prstGeom prst="rect">
              <a:avLst/>
            </a:prstGeom>
          </p:spPr>
        </p:pic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1ACA3625-95F0-C779-2034-8958AC20C368}"/>
                </a:ext>
              </a:extLst>
            </p:cNvPr>
            <p:cNvSpPr/>
            <p:nvPr/>
          </p:nvSpPr>
          <p:spPr>
            <a:xfrm>
              <a:off x="326311" y="4094189"/>
              <a:ext cx="2683241" cy="680059"/>
            </a:xfrm>
            <a:prstGeom prst="roundRect">
              <a:avLst/>
            </a:prstGeom>
            <a:solidFill>
              <a:srgbClr val="0940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Temas </a:t>
              </a:r>
              <a:r>
                <a:rPr lang="es-CO" b="1" dirty="0" err="1">
                  <a:latin typeface="Verdana" panose="020B0604030504040204" pitchFamily="34" charset="0"/>
                  <a:ea typeface="Verdana" panose="020B0604030504040204" pitchFamily="34" charset="0"/>
                </a:rPr>
                <a:t>Relavantes</a:t>
              </a:r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 IE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9DE1C96-ACFD-0297-EDE5-D636F7CFB405}"/>
              </a:ext>
            </a:extLst>
          </p:cNvPr>
          <p:cNvGrpSpPr/>
          <p:nvPr/>
        </p:nvGrpSpPr>
        <p:grpSpPr>
          <a:xfrm>
            <a:off x="0" y="48816"/>
            <a:ext cx="2098068" cy="1818964"/>
            <a:chOff x="3828736" y="2475599"/>
            <a:chExt cx="2098068" cy="1818964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C05D9E1D-7271-BF29-4A17-F4FFBA023185}"/>
                </a:ext>
              </a:extLst>
            </p:cNvPr>
            <p:cNvSpPr/>
            <p:nvPr/>
          </p:nvSpPr>
          <p:spPr>
            <a:xfrm>
              <a:off x="3828736" y="3614504"/>
              <a:ext cx="2098068" cy="680059"/>
            </a:xfrm>
            <a:prstGeom prst="roundRect">
              <a:avLst/>
            </a:prstGeom>
            <a:solidFill>
              <a:srgbClr val="0940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Nómina</a:t>
              </a:r>
            </a:p>
          </p:txBody>
        </p:sp>
        <p:pic>
          <p:nvPicPr>
            <p:cNvPr id="19" name="Gráfico 18" descr="Préstamo con relleno sólido">
              <a:extLst>
                <a:ext uri="{FF2B5EF4-FFF2-40B4-BE49-F238E27FC236}">
                  <a16:creationId xmlns:a16="http://schemas.microsoft.com/office/drawing/2014/main" id="{8C7A81AB-94EE-FBD3-AF66-87EB71879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44713" y="2475599"/>
              <a:ext cx="1266114" cy="1266114"/>
            </a:xfrm>
            <a:prstGeom prst="rect">
              <a:avLst/>
            </a:prstGeom>
          </p:spPr>
        </p:pic>
      </p:grpSp>
      <p:sp>
        <p:nvSpPr>
          <p:cNvPr id="153" name="Diagrama de flujo: conector 152">
            <a:extLst>
              <a:ext uri="{FF2B5EF4-FFF2-40B4-BE49-F238E27FC236}">
                <a16:creationId xmlns:a16="http://schemas.microsoft.com/office/drawing/2014/main" id="{B703767F-CA43-6925-19FD-0BD45AA9E2BE}"/>
              </a:ext>
            </a:extLst>
          </p:cNvPr>
          <p:cNvSpPr/>
          <p:nvPr/>
        </p:nvSpPr>
        <p:spPr>
          <a:xfrm>
            <a:off x="9234641" y="2326644"/>
            <a:ext cx="2470167" cy="2289012"/>
          </a:xfrm>
          <a:prstGeom prst="flowChartConnector">
            <a:avLst/>
          </a:prstGeom>
          <a:solidFill>
            <a:srgbClr val="052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4113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Imagen 154" descr="Forma, Cuadrado&#10;&#10;El contenido generado por IA puede ser incorrecto.">
            <a:extLst>
              <a:ext uri="{FF2B5EF4-FFF2-40B4-BE49-F238E27FC236}">
                <a16:creationId xmlns:a16="http://schemas.microsoft.com/office/drawing/2014/main" id="{ADFBCAA0-76A4-807C-C5FD-D90EAD955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050" y="704850"/>
            <a:ext cx="60579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3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FEFE4D30-3687-1154-014F-FA9450439AF2}"/>
              </a:ext>
            </a:extLst>
          </p:cNvPr>
          <p:cNvGrpSpPr/>
          <p:nvPr/>
        </p:nvGrpSpPr>
        <p:grpSpPr>
          <a:xfrm>
            <a:off x="2673241" y="0"/>
            <a:ext cx="2443396" cy="2398426"/>
            <a:chOff x="6925457" y="689548"/>
            <a:chExt cx="2443396" cy="2398426"/>
          </a:xfrm>
        </p:grpSpPr>
        <p:sp>
          <p:nvSpPr>
            <p:cNvPr id="2" name="Diagrama de flujo: conector 1">
              <a:extLst>
                <a:ext uri="{FF2B5EF4-FFF2-40B4-BE49-F238E27FC236}">
                  <a16:creationId xmlns:a16="http://schemas.microsoft.com/office/drawing/2014/main" id="{C1917B31-A6AC-0C28-7B0E-BB1EEB6E108D}"/>
                </a:ext>
              </a:extLst>
            </p:cNvPr>
            <p:cNvSpPr/>
            <p:nvPr/>
          </p:nvSpPr>
          <p:spPr>
            <a:xfrm>
              <a:off x="6925457" y="689548"/>
              <a:ext cx="2443396" cy="2398426"/>
            </a:xfrm>
            <a:prstGeom prst="flowChartConnector">
              <a:avLst/>
            </a:prstGeom>
            <a:solidFill>
              <a:srgbClr val="0525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9" name="Gráfico 38" descr="Buen inventario con relleno sólido">
              <a:extLst>
                <a:ext uri="{FF2B5EF4-FFF2-40B4-BE49-F238E27FC236}">
                  <a16:creationId xmlns:a16="http://schemas.microsoft.com/office/drawing/2014/main" id="{52C0E6AA-EFE1-B7EF-4473-31C5ADA1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5043" y="689548"/>
              <a:ext cx="1199212" cy="1603773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4590ECE9-7E39-1503-1986-9624A859C676}"/>
                </a:ext>
              </a:extLst>
            </p:cNvPr>
            <p:cNvSpPr txBox="1"/>
            <p:nvPr/>
          </p:nvSpPr>
          <p:spPr>
            <a:xfrm>
              <a:off x="7412636" y="2281221"/>
              <a:ext cx="1543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Inventario</a:t>
              </a:r>
              <a:endParaRPr lang="es-CO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FDB285F-1368-9E0B-AB07-25C9D8F3F0B0}"/>
              </a:ext>
            </a:extLst>
          </p:cNvPr>
          <p:cNvGrpSpPr/>
          <p:nvPr/>
        </p:nvGrpSpPr>
        <p:grpSpPr>
          <a:xfrm>
            <a:off x="0" y="0"/>
            <a:ext cx="2443396" cy="2398426"/>
            <a:chOff x="1215871" y="3087974"/>
            <a:chExt cx="2443396" cy="2398426"/>
          </a:xfrm>
        </p:grpSpPr>
        <p:sp>
          <p:nvSpPr>
            <p:cNvPr id="4" name="Diagrama de flujo: conector 3">
              <a:extLst>
                <a:ext uri="{FF2B5EF4-FFF2-40B4-BE49-F238E27FC236}">
                  <a16:creationId xmlns:a16="http://schemas.microsoft.com/office/drawing/2014/main" id="{C0A96E55-8FC6-8D50-34C0-FE9A05469A28}"/>
                </a:ext>
              </a:extLst>
            </p:cNvPr>
            <p:cNvSpPr/>
            <p:nvPr/>
          </p:nvSpPr>
          <p:spPr>
            <a:xfrm>
              <a:off x="1215871" y="3087974"/>
              <a:ext cx="2443396" cy="2398426"/>
            </a:xfrm>
            <a:prstGeom prst="flowChartConnector">
              <a:avLst/>
            </a:prstGeom>
            <a:solidFill>
              <a:srgbClr val="0525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49" name="Gráfico 48" descr="Señal con relleno sólido">
              <a:extLst>
                <a:ext uri="{FF2B5EF4-FFF2-40B4-BE49-F238E27FC236}">
                  <a16:creationId xmlns:a16="http://schemas.microsoft.com/office/drawing/2014/main" id="{0E1F17B6-18B2-4E97-FDFD-587DF2F96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11311" y="3087974"/>
              <a:ext cx="1135921" cy="1519130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F287B41-E0CC-8C12-2129-4F02C996EB6D}"/>
                </a:ext>
              </a:extLst>
            </p:cNvPr>
            <p:cNvSpPr txBox="1"/>
            <p:nvPr/>
          </p:nvSpPr>
          <p:spPr>
            <a:xfrm>
              <a:off x="1514007" y="4467069"/>
              <a:ext cx="177966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Distribución Planes Móviles</a:t>
              </a:r>
              <a:endParaRPr lang="es-CO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B49333C-F8CA-0A47-F598-C04B8371E171}"/>
              </a:ext>
            </a:extLst>
          </p:cNvPr>
          <p:cNvGrpSpPr/>
          <p:nvPr/>
        </p:nvGrpSpPr>
        <p:grpSpPr>
          <a:xfrm>
            <a:off x="5259044" y="91379"/>
            <a:ext cx="2684338" cy="2419215"/>
            <a:chOff x="3465419" y="2766767"/>
            <a:chExt cx="2684338" cy="2419215"/>
          </a:xfrm>
        </p:grpSpPr>
        <p:sp>
          <p:nvSpPr>
            <p:cNvPr id="23" name="Diagrama de flujo: conector 22">
              <a:extLst>
                <a:ext uri="{FF2B5EF4-FFF2-40B4-BE49-F238E27FC236}">
                  <a16:creationId xmlns:a16="http://schemas.microsoft.com/office/drawing/2014/main" id="{C8425011-305C-37EE-641F-572D2C8996E6}"/>
                </a:ext>
              </a:extLst>
            </p:cNvPr>
            <p:cNvSpPr/>
            <p:nvPr/>
          </p:nvSpPr>
          <p:spPr>
            <a:xfrm>
              <a:off x="3465419" y="2766767"/>
              <a:ext cx="2684338" cy="2419215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24" name="Gráfico 23" descr="Portátil con relleno sólido">
              <a:extLst>
                <a:ext uri="{FF2B5EF4-FFF2-40B4-BE49-F238E27FC236}">
                  <a16:creationId xmlns:a16="http://schemas.microsoft.com/office/drawing/2014/main" id="{72F58C85-5E8D-BAA8-060B-56DCD06E2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562855" y="3035509"/>
              <a:ext cx="1137954" cy="1328240"/>
            </a:xfrm>
            <a:prstGeom prst="rect">
              <a:avLst/>
            </a:prstGeom>
          </p:spPr>
        </p:pic>
        <p:pic>
          <p:nvPicPr>
            <p:cNvPr id="25" name="Gráfico 24" descr="Ordenador con relleno sólido">
              <a:extLst>
                <a:ext uri="{FF2B5EF4-FFF2-40B4-BE49-F238E27FC236}">
                  <a16:creationId xmlns:a16="http://schemas.microsoft.com/office/drawing/2014/main" id="{A622171D-F43F-25C8-E45E-9B75ACA86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00809" y="3035509"/>
              <a:ext cx="1235390" cy="1441969"/>
            </a:xfrm>
            <a:prstGeom prst="rect">
              <a:avLst/>
            </a:prstGeom>
          </p:spPr>
        </p:pic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FB01C917-DA75-5BA7-641F-BD6BC5943D9D}"/>
                </a:ext>
              </a:extLst>
            </p:cNvPr>
            <p:cNvSpPr/>
            <p:nvPr/>
          </p:nvSpPr>
          <p:spPr>
            <a:xfrm>
              <a:off x="3715255" y="4227632"/>
              <a:ext cx="2275908" cy="80971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latin typeface="Verdana" panose="020B0604030504040204" pitchFamily="34" charset="0"/>
                  <a:ea typeface="Verdana" panose="020B0604030504040204" pitchFamily="34" charset="0"/>
                </a:rPr>
                <a:t>Equipo de Computo</a:t>
              </a:r>
            </a:p>
          </p:txBody>
        </p:sp>
      </p:grpSp>
      <p:grpSp>
        <p:nvGrpSpPr>
          <p:cNvPr id="152" name="Grupo 151">
            <a:extLst>
              <a:ext uri="{FF2B5EF4-FFF2-40B4-BE49-F238E27FC236}">
                <a16:creationId xmlns:a16="http://schemas.microsoft.com/office/drawing/2014/main" id="{764BB245-CA7F-E630-B31F-E082FA0A6450}"/>
              </a:ext>
            </a:extLst>
          </p:cNvPr>
          <p:cNvGrpSpPr/>
          <p:nvPr/>
        </p:nvGrpSpPr>
        <p:grpSpPr>
          <a:xfrm>
            <a:off x="8034624" y="91379"/>
            <a:ext cx="2684338" cy="2419215"/>
            <a:chOff x="0" y="2716163"/>
            <a:chExt cx="2684338" cy="2419215"/>
          </a:xfrm>
        </p:grpSpPr>
        <p:sp>
          <p:nvSpPr>
            <p:cNvPr id="21" name="Diagrama de flujo: conector 20">
              <a:extLst>
                <a:ext uri="{FF2B5EF4-FFF2-40B4-BE49-F238E27FC236}">
                  <a16:creationId xmlns:a16="http://schemas.microsoft.com/office/drawing/2014/main" id="{C42C38AC-52BC-DC92-CA8D-6AF7EF0CB015}"/>
                </a:ext>
              </a:extLst>
            </p:cNvPr>
            <p:cNvSpPr/>
            <p:nvPr/>
          </p:nvSpPr>
          <p:spPr>
            <a:xfrm>
              <a:off x="0" y="2716163"/>
              <a:ext cx="2684338" cy="2419215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grpSp>
          <p:nvGrpSpPr>
            <p:cNvPr id="151" name="Grupo 150">
              <a:extLst>
                <a:ext uri="{FF2B5EF4-FFF2-40B4-BE49-F238E27FC236}">
                  <a16:creationId xmlns:a16="http://schemas.microsoft.com/office/drawing/2014/main" id="{E4D5CF71-913C-5E6E-467B-355ED2EE3478}"/>
                </a:ext>
              </a:extLst>
            </p:cNvPr>
            <p:cNvGrpSpPr/>
            <p:nvPr/>
          </p:nvGrpSpPr>
          <p:grpSpPr>
            <a:xfrm>
              <a:off x="138934" y="2964305"/>
              <a:ext cx="2406470" cy="1815306"/>
              <a:chOff x="138934" y="2964305"/>
              <a:chExt cx="2406470" cy="1815306"/>
            </a:xfrm>
          </p:grpSpPr>
          <p:sp>
            <p:nvSpPr>
              <p:cNvPr id="18" name="Rectángulo: esquinas redondeadas 17">
                <a:extLst>
                  <a:ext uri="{FF2B5EF4-FFF2-40B4-BE49-F238E27FC236}">
                    <a16:creationId xmlns:a16="http://schemas.microsoft.com/office/drawing/2014/main" id="{0DBD6DC0-0374-227D-F4AE-1D4B48B8661E}"/>
                  </a:ext>
                </a:extLst>
              </p:cNvPr>
              <p:cNvSpPr/>
              <p:nvPr/>
            </p:nvSpPr>
            <p:spPr>
              <a:xfrm>
                <a:off x="343473" y="4099551"/>
                <a:ext cx="1997392" cy="68006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Conectividad</a:t>
                </a:r>
              </a:p>
            </p:txBody>
          </p:sp>
          <p:pic>
            <p:nvPicPr>
              <p:cNvPr id="17" name="Gráfico 16" descr="Enrutador inalámbrico con relleno sólido">
                <a:extLst>
                  <a:ext uri="{FF2B5EF4-FFF2-40B4-BE49-F238E27FC236}">
                    <a16:creationId xmlns:a16="http://schemas.microsoft.com/office/drawing/2014/main" id="{1CD008D4-2309-74F3-8E5E-E13C3F4A4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8934" y="2964305"/>
                <a:ext cx="2406470" cy="1266114"/>
              </a:xfrm>
              <a:prstGeom prst="rect">
                <a:avLst/>
              </a:prstGeom>
            </p:spPr>
          </p:pic>
        </p:grpSp>
      </p:grpSp>
      <p:sp>
        <p:nvSpPr>
          <p:cNvPr id="148" name="Diagrama de flujo: conector 147">
            <a:extLst>
              <a:ext uri="{FF2B5EF4-FFF2-40B4-BE49-F238E27FC236}">
                <a16:creationId xmlns:a16="http://schemas.microsoft.com/office/drawing/2014/main" id="{5659E93A-687C-97D7-9C4B-CF013B21883C}"/>
              </a:ext>
            </a:extLst>
          </p:cNvPr>
          <p:cNvSpPr/>
          <p:nvPr/>
        </p:nvSpPr>
        <p:spPr>
          <a:xfrm>
            <a:off x="-47116" y="2510594"/>
            <a:ext cx="2470167" cy="2289012"/>
          </a:xfrm>
          <a:prstGeom prst="flowChartConnector">
            <a:avLst/>
          </a:prstGeom>
          <a:solidFill>
            <a:srgbClr val="052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47" name="Gráfico 46" descr="Piezas de rompecabezas con relleno sólido">
            <a:extLst>
              <a:ext uri="{FF2B5EF4-FFF2-40B4-BE49-F238E27FC236}">
                <a16:creationId xmlns:a16="http://schemas.microsoft.com/office/drawing/2014/main" id="{ADE278B6-43FE-B7A6-7A1D-E9D53F4AA3C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5352" y="2579196"/>
            <a:ext cx="1091809" cy="1222878"/>
          </a:xfrm>
          <a:prstGeom prst="rect">
            <a:avLst/>
          </a:prstGeom>
        </p:spPr>
      </p:pic>
      <p:sp>
        <p:nvSpPr>
          <p:cNvPr id="149" name="CuadroTexto 148">
            <a:extLst>
              <a:ext uri="{FF2B5EF4-FFF2-40B4-BE49-F238E27FC236}">
                <a16:creationId xmlns:a16="http://schemas.microsoft.com/office/drawing/2014/main" id="{A316425D-7BFA-4784-6FD3-CC333349F452}"/>
              </a:ext>
            </a:extLst>
          </p:cNvPr>
          <p:cNvSpPr txBox="1"/>
          <p:nvPr/>
        </p:nvSpPr>
        <p:spPr>
          <a:xfrm>
            <a:off x="269029" y="3802074"/>
            <a:ext cx="1859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Índice de Innovación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8F059D5D-3BDE-FF06-C08C-1796ABBCBB74}"/>
              </a:ext>
            </a:extLst>
          </p:cNvPr>
          <p:cNvGrpSpPr/>
          <p:nvPr/>
        </p:nvGrpSpPr>
        <p:grpSpPr>
          <a:xfrm>
            <a:off x="2564901" y="2510594"/>
            <a:ext cx="2470167" cy="2289012"/>
            <a:chOff x="2564901" y="2510594"/>
            <a:chExt cx="2470167" cy="2289012"/>
          </a:xfrm>
        </p:grpSpPr>
        <p:sp>
          <p:nvSpPr>
            <p:cNvPr id="8" name="Diagrama de flujo: conector 7">
              <a:extLst>
                <a:ext uri="{FF2B5EF4-FFF2-40B4-BE49-F238E27FC236}">
                  <a16:creationId xmlns:a16="http://schemas.microsoft.com/office/drawing/2014/main" id="{7C35CE62-9CDF-395E-67AD-2546386D8B28}"/>
                </a:ext>
              </a:extLst>
            </p:cNvPr>
            <p:cNvSpPr/>
            <p:nvPr/>
          </p:nvSpPr>
          <p:spPr>
            <a:xfrm>
              <a:off x="2564901" y="2510594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45" name="Gráfico 44" descr="Documento con relleno sólido">
              <a:extLst>
                <a:ext uri="{FF2B5EF4-FFF2-40B4-BE49-F238E27FC236}">
                  <a16:creationId xmlns:a16="http://schemas.microsoft.com/office/drawing/2014/main" id="{94CA98D3-25D9-CE97-094B-79DA904A4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312792" y="2579196"/>
              <a:ext cx="974383" cy="1222878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437C506-8DF2-7169-A202-03CBC62945B8}"/>
                </a:ext>
              </a:extLst>
            </p:cNvPr>
            <p:cNvSpPr txBox="1"/>
            <p:nvPr/>
          </p:nvSpPr>
          <p:spPr>
            <a:xfrm>
              <a:off x="2818151" y="3802074"/>
              <a:ext cx="1886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Circulares TICS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B07D11E-B243-6E5A-290C-99672F58BA1F}"/>
              </a:ext>
            </a:extLst>
          </p:cNvPr>
          <p:cNvGrpSpPr/>
          <p:nvPr/>
        </p:nvGrpSpPr>
        <p:grpSpPr>
          <a:xfrm>
            <a:off x="5176918" y="2510594"/>
            <a:ext cx="2470167" cy="2289012"/>
            <a:chOff x="5176918" y="2510594"/>
            <a:chExt cx="2470167" cy="2289012"/>
          </a:xfrm>
        </p:grpSpPr>
        <p:sp>
          <p:nvSpPr>
            <p:cNvPr id="11" name="Diagrama de flujo: conector 10">
              <a:extLst>
                <a:ext uri="{FF2B5EF4-FFF2-40B4-BE49-F238E27FC236}">
                  <a16:creationId xmlns:a16="http://schemas.microsoft.com/office/drawing/2014/main" id="{725FF89C-DC41-71DB-4943-82134208F267}"/>
                </a:ext>
              </a:extLst>
            </p:cNvPr>
            <p:cNvSpPr/>
            <p:nvPr/>
          </p:nvSpPr>
          <p:spPr>
            <a:xfrm>
              <a:off x="5176918" y="2510594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20" name="Gráfico 19" descr="Identificación de empleado con relleno sólido">
              <a:extLst>
                <a:ext uri="{FF2B5EF4-FFF2-40B4-BE49-F238E27FC236}">
                  <a16:creationId xmlns:a16="http://schemas.microsoft.com/office/drawing/2014/main" id="{292CE9B0-478C-3133-297C-6ADFD456F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690851" y="2599949"/>
              <a:ext cx="1442300" cy="1222878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AFD1ADB-1EF7-754E-58F6-88F40BCE8B67}"/>
                </a:ext>
              </a:extLst>
            </p:cNvPr>
            <p:cNvSpPr txBox="1"/>
            <p:nvPr/>
          </p:nvSpPr>
          <p:spPr>
            <a:xfrm>
              <a:off x="5523831" y="3808172"/>
              <a:ext cx="17763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Planta Docente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7ED9DBC-1996-87A8-BD10-B772385621C5}"/>
              </a:ext>
            </a:extLst>
          </p:cNvPr>
          <p:cNvGrpSpPr/>
          <p:nvPr/>
        </p:nvGrpSpPr>
        <p:grpSpPr>
          <a:xfrm>
            <a:off x="7973315" y="2579196"/>
            <a:ext cx="2470167" cy="2289012"/>
            <a:chOff x="7973315" y="2579196"/>
            <a:chExt cx="2470167" cy="2289012"/>
          </a:xfrm>
        </p:grpSpPr>
        <p:sp>
          <p:nvSpPr>
            <p:cNvPr id="14" name="Diagrama de flujo: conector 13">
              <a:extLst>
                <a:ext uri="{FF2B5EF4-FFF2-40B4-BE49-F238E27FC236}">
                  <a16:creationId xmlns:a16="http://schemas.microsoft.com/office/drawing/2014/main" id="{001288B7-AEC6-78A9-0BC4-943111590B96}"/>
                </a:ext>
              </a:extLst>
            </p:cNvPr>
            <p:cNvSpPr/>
            <p:nvPr/>
          </p:nvSpPr>
          <p:spPr>
            <a:xfrm>
              <a:off x="7973315" y="2579196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43" name="Gráfico 42" descr="Calendario con relleno sólido">
              <a:extLst>
                <a:ext uri="{FF2B5EF4-FFF2-40B4-BE49-F238E27FC236}">
                  <a16:creationId xmlns:a16="http://schemas.microsoft.com/office/drawing/2014/main" id="{0D377ABE-222F-68B9-8068-9C82EBAA8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634335" y="2731700"/>
              <a:ext cx="1148128" cy="1222878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7B15BC1-5A8C-1CE1-E018-37A09946725F}"/>
                </a:ext>
              </a:extLst>
            </p:cNvPr>
            <p:cNvSpPr txBox="1"/>
            <p:nvPr/>
          </p:nvSpPr>
          <p:spPr>
            <a:xfrm>
              <a:off x="8578811" y="3954578"/>
              <a:ext cx="12591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Jornada Única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B77F695-5C77-BB5D-DEDD-506F17794131}"/>
              </a:ext>
            </a:extLst>
          </p:cNvPr>
          <p:cNvGrpSpPr/>
          <p:nvPr/>
        </p:nvGrpSpPr>
        <p:grpSpPr>
          <a:xfrm>
            <a:off x="0" y="4868208"/>
            <a:ext cx="2470167" cy="2289012"/>
            <a:chOff x="2486042" y="4799606"/>
            <a:chExt cx="2470167" cy="2289012"/>
          </a:xfrm>
        </p:grpSpPr>
        <p:sp>
          <p:nvSpPr>
            <p:cNvPr id="22" name="Diagrama de flujo: conector 21">
              <a:extLst>
                <a:ext uri="{FF2B5EF4-FFF2-40B4-BE49-F238E27FC236}">
                  <a16:creationId xmlns:a16="http://schemas.microsoft.com/office/drawing/2014/main" id="{2F30A2FF-BB6D-C598-7D57-D2A18FC7E1E4}"/>
                </a:ext>
              </a:extLst>
            </p:cNvPr>
            <p:cNvSpPr/>
            <p:nvPr/>
          </p:nvSpPr>
          <p:spPr>
            <a:xfrm>
              <a:off x="2486042" y="4799606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19" name="Gráfico 18" descr="Trabajar desde casa Wi-Fi con relleno sólido">
              <a:extLst>
                <a:ext uri="{FF2B5EF4-FFF2-40B4-BE49-F238E27FC236}">
                  <a16:creationId xmlns:a16="http://schemas.microsoft.com/office/drawing/2014/main" id="{FB2FCC0A-FFA3-9E2E-4C96-E11A6AD5B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209500" y="4911774"/>
              <a:ext cx="1023250" cy="1222878"/>
            </a:xfrm>
            <a:prstGeom prst="rect">
              <a:avLst/>
            </a:prstGeom>
          </p:spPr>
        </p:pic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15785A25-8A1A-3FA8-0D2D-B8CE4BA0BBE3}"/>
                </a:ext>
              </a:extLst>
            </p:cNvPr>
            <p:cNvSpPr txBox="1"/>
            <p:nvPr/>
          </p:nvSpPr>
          <p:spPr>
            <a:xfrm>
              <a:off x="2579641" y="6108347"/>
              <a:ext cx="2282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Infraestructura Educativa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80ADAB86-4279-D7EA-E762-5A77853BA633}"/>
              </a:ext>
            </a:extLst>
          </p:cNvPr>
          <p:cNvGrpSpPr/>
          <p:nvPr/>
        </p:nvGrpSpPr>
        <p:grpSpPr>
          <a:xfrm>
            <a:off x="2673241" y="4877978"/>
            <a:ext cx="2470167" cy="2289012"/>
            <a:chOff x="5411750" y="4888961"/>
            <a:chExt cx="2470167" cy="2289012"/>
          </a:xfrm>
        </p:grpSpPr>
        <p:sp>
          <p:nvSpPr>
            <p:cNvPr id="29" name="Diagrama de flujo: conector 28">
              <a:extLst>
                <a:ext uri="{FF2B5EF4-FFF2-40B4-BE49-F238E27FC236}">
                  <a16:creationId xmlns:a16="http://schemas.microsoft.com/office/drawing/2014/main" id="{289D1837-AB80-843C-5639-33551EC8792B}"/>
                </a:ext>
              </a:extLst>
            </p:cNvPr>
            <p:cNvSpPr/>
            <p:nvPr/>
          </p:nvSpPr>
          <p:spPr>
            <a:xfrm>
              <a:off x="5411750" y="4888961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1" name="Gráfico 30" descr="Insignia de portapapeles con relleno sólido">
              <a:extLst>
                <a:ext uri="{FF2B5EF4-FFF2-40B4-BE49-F238E27FC236}">
                  <a16:creationId xmlns:a16="http://schemas.microsoft.com/office/drawing/2014/main" id="{800E2740-BD81-BD4E-2109-84CCC706D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106123" y="5010400"/>
              <a:ext cx="1081420" cy="1222878"/>
            </a:xfrm>
            <a:prstGeom prst="rect">
              <a:avLst/>
            </a:prstGeom>
          </p:spPr>
        </p:pic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DBB835BA-F43C-7857-DC59-24F0AB8E9584}"/>
                </a:ext>
              </a:extLst>
            </p:cNvPr>
            <p:cNvSpPr txBox="1"/>
            <p:nvPr/>
          </p:nvSpPr>
          <p:spPr>
            <a:xfrm>
              <a:off x="5690851" y="6134652"/>
              <a:ext cx="19562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Unidad de Calidad Educativa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5E68B434-2E42-6FA5-9BC0-CC1C26F46DA8}"/>
              </a:ext>
            </a:extLst>
          </p:cNvPr>
          <p:cNvGrpSpPr/>
          <p:nvPr/>
        </p:nvGrpSpPr>
        <p:grpSpPr>
          <a:xfrm>
            <a:off x="5259044" y="4900863"/>
            <a:ext cx="2470167" cy="2289012"/>
            <a:chOff x="5259044" y="4900863"/>
            <a:chExt cx="2470167" cy="2289012"/>
          </a:xfrm>
        </p:grpSpPr>
        <p:sp>
          <p:nvSpPr>
            <p:cNvPr id="34" name="Diagrama de flujo: conector 33">
              <a:extLst>
                <a:ext uri="{FF2B5EF4-FFF2-40B4-BE49-F238E27FC236}">
                  <a16:creationId xmlns:a16="http://schemas.microsoft.com/office/drawing/2014/main" id="{E8975243-855A-CCCA-47D8-4D09BE1538AA}"/>
                </a:ext>
              </a:extLst>
            </p:cNvPr>
            <p:cNvSpPr/>
            <p:nvPr/>
          </p:nvSpPr>
          <p:spPr>
            <a:xfrm>
              <a:off x="5259044" y="4900863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5" name="Gráfico 34" descr="Bombilla y equipo con relleno sólido">
              <a:extLst>
                <a:ext uri="{FF2B5EF4-FFF2-40B4-BE49-F238E27FC236}">
                  <a16:creationId xmlns:a16="http://schemas.microsoft.com/office/drawing/2014/main" id="{9DB5E9B0-C070-50FE-03D6-2E0DA5DB8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945571" y="4900863"/>
              <a:ext cx="1097111" cy="1222878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058EE014-7160-A62D-21F3-D592287079CF}"/>
                </a:ext>
              </a:extLst>
            </p:cNvPr>
            <p:cNvSpPr txBox="1"/>
            <p:nvPr/>
          </p:nvSpPr>
          <p:spPr>
            <a:xfrm>
              <a:off x="5523831" y="6203254"/>
              <a:ext cx="19412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Expedición de Saberes</a:t>
              </a:r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D2F3781A-383B-AEAB-CDAF-D0347F8FBE2C}"/>
              </a:ext>
            </a:extLst>
          </p:cNvPr>
          <p:cNvGrpSpPr/>
          <p:nvPr/>
        </p:nvGrpSpPr>
        <p:grpSpPr>
          <a:xfrm>
            <a:off x="7927919" y="4948975"/>
            <a:ext cx="2470167" cy="2289012"/>
            <a:chOff x="7927919" y="4948975"/>
            <a:chExt cx="2470167" cy="2289012"/>
          </a:xfrm>
        </p:grpSpPr>
        <p:sp>
          <p:nvSpPr>
            <p:cNvPr id="38" name="Diagrama de flujo: conector 37">
              <a:extLst>
                <a:ext uri="{FF2B5EF4-FFF2-40B4-BE49-F238E27FC236}">
                  <a16:creationId xmlns:a16="http://schemas.microsoft.com/office/drawing/2014/main" id="{6E92547D-5A38-79CA-4167-2759021EF9F5}"/>
                </a:ext>
              </a:extLst>
            </p:cNvPr>
            <p:cNvSpPr/>
            <p:nvPr/>
          </p:nvSpPr>
          <p:spPr>
            <a:xfrm>
              <a:off x="7927919" y="4948975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40" name="Gráfico 39" descr="Portapapeles parcialmente tachado con relleno sólido">
              <a:extLst>
                <a:ext uri="{FF2B5EF4-FFF2-40B4-BE49-F238E27FC236}">
                  <a16:creationId xmlns:a16="http://schemas.microsoft.com/office/drawing/2014/main" id="{3F86A707-8F3A-20CF-3BC8-3B512ED11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659841" y="5020712"/>
              <a:ext cx="1097111" cy="1321785"/>
            </a:xfrm>
            <a:prstGeom prst="rect">
              <a:avLst/>
            </a:prstGeom>
          </p:spPr>
        </p:pic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7F4C9663-1133-7896-5785-A655E7B83A26}"/>
                </a:ext>
              </a:extLst>
            </p:cNvPr>
            <p:cNvSpPr txBox="1"/>
            <p:nvPr/>
          </p:nvSpPr>
          <p:spPr>
            <a:xfrm>
              <a:off x="8378097" y="6342497"/>
              <a:ext cx="16803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Pruebas Saber 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7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5B4C01C-5156-40C1-6AB2-8732B0FE02D4}"/>
              </a:ext>
            </a:extLst>
          </p:cNvPr>
          <p:cNvGrpSpPr/>
          <p:nvPr/>
        </p:nvGrpSpPr>
        <p:grpSpPr>
          <a:xfrm>
            <a:off x="0" y="250402"/>
            <a:ext cx="2470167" cy="2289012"/>
            <a:chOff x="263378" y="250402"/>
            <a:chExt cx="2470167" cy="2289012"/>
          </a:xfrm>
        </p:grpSpPr>
        <p:sp>
          <p:nvSpPr>
            <p:cNvPr id="2" name="Diagrama de flujo: conector 1">
              <a:extLst>
                <a:ext uri="{FF2B5EF4-FFF2-40B4-BE49-F238E27FC236}">
                  <a16:creationId xmlns:a16="http://schemas.microsoft.com/office/drawing/2014/main" id="{F255B8A0-FCEE-9E24-6B86-EBDDBAB74C38}"/>
                </a:ext>
              </a:extLst>
            </p:cNvPr>
            <p:cNvSpPr/>
            <p:nvPr/>
          </p:nvSpPr>
          <p:spPr>
            <a:xfrm>
              <a:off x="263378" y="250402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" name="Gráfico 2" descr="Lista de comprobación con relleno sólido">
              <a:extLst>
                <a:ext uri="{FF2B5EF4-FFF2-40B4-BE49-F238E27FC236}">
                  <a16:creationId xmlns:a16="http://schemas.microsoft.com/office/drawing/2014/main" id="{A042973A-E8C5-FC1E-0CD9-9D5136258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1260" y="393726"/>
              <a:ext cx="952431" cy="1222878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EC17DD7-7600-70FA-440D-EFE233282DBA}"/>
                </a:ext>
              </a:extLst>
            </p:cNvPr>
            <p:cNvSpPr txBox="1"/>
            <p:nvPr/>
          </p:nvSpPr>
          <p:spPr>
            <a:xfrm>
              <a:off x="614597" y="1678898"/>
              <a:ext cx="17538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Pruebas Saber 3579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8E7E356-7D6F-7899-8CC0-98DB86B5E1FF}"/>
              </a:ext>
            </a:extLst>
          </p:cNvPr>
          <p:cNvGrpSpPr/>
          <p:nvPr/>
        </p:nvGrpSpPr>
        <p:grpSpPr>
          <a:xfrm>
            <a:off x="2489180" y="189090"/>
            <a:ext cx="2470168" cy="2289012"/>
            <a:chOff x="2771572" y="250402"/>
            <a:chExt cx="2470168" cy="2289012"/>
          </a:xfrm>
        </p:grpSpPr>
        <p:sp>
          <p:nvSpPr>
            <p:cNvPr id="7" name="Diagrama de flujo: conector 6">
              <a:extLst>
                <a:ext uri="{FF2B5EF4-FFF2-40B4-BE49-F238E27FC236}">
                  <a16:creationId xmlns:a16="http://schemas.microsoft.com/office/drawing/2014/main" id="{F8E8B824-1C1F-2390-EAD9-02A382EA7D24}"/>
                </a:ext>
              </a:extLst>
            </p:cNvPr>
            <p:cNvSpPr/>
            <p:nvPr/>
          </p:nvSpPr>
          <p:spPr>
            <a:xfrm>
              <a:off x="2771573" y="250402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6" name="Gráfico 5" descr="Lista de comprobación con relleno sólido">
              <a:extLst>
                <a:ext uri="{FF2B5EF4-FFF2-40B4-BE49-F238E27FC236}">
                  <a16:creationId xmlns:a16="http://schemas.microsoft.com/office/drawing/2014/main" id="{695A0FF8-435C-858F-59B8-A576412C7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49456" y="393726"/>
              <a:ext cx="914400" cy="1222878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946E8E0-8473-3757-14A6-01606B799EF7}"/>
                </a:ext>
              </a:extLst>
            </p:cNvPr>
            <p:cNvSpPr txBox="1"/>
            <p:nvPr/>
          </p:nvSpPr>
          <p:spPr>
            <a:xfrm>
              <a:off x="2771572" y="1616604"/>
              <a:ext cx="2470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Autoevaluación Institucional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0A7319E-F830-EEC6-495C-BF190BCDCB8F}"/>
              </a:ext>
            </a:extLst>
          </p:cNvPr>
          <p:cNvGrpSpPr/>
          <p:nvPr/>
        </p:nvGrpSpPr>
        <p:grpSpPr>
          <a:xfrm>
            <a:off x="5058509" y="250402"/>
            <a:ext cx="2470167" cy="2289012"/>
            <a:chOff x="5241738" y="472098"/>
            <a:chExt cx="2470167" cy="2289012"/>
          </a:xfrm>
        </p:grpSpPr>
        <p:sp>
          <p:nvSpPr>
            <p:cNvPr id="11" name="Diagrama de flujo: conector 10">
              <a:extLst>
                <a:ext uri="{FF2B5EF4-FFF2-40B4-BE49-F238E27FC236}">
                  <a16:creationId xmlns:a16="http://schemas.microsoft.com/office/drawing/2014/main" id="{CBB80D8C-2472-81D0-DBC4-036CB22EFB12}"/>
                </a:ext>
              </a:extLst>
            </p:cNvPr>
            <p:cNvSpPr/>
            <p:nvPr/>
          </p:nvSpPr>
          <p:spPr>
            <a:xfrm>
              <a:off x="5241738" y="472098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10" name="Gráfico 9" descr="Huellas de zapatos con relleno sólido">
              <a:extLst>
                <a:ext uri="{FF2B5EF4-FFF2-40B4-BE49-F238E27FC236}">
                  <a16:creationId xmlns:a16="http://schemas.microsoft.com/office/drawing/2014/main" id="{592C6C03-00FB-62F4-CFE2-2DB9083A2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9621" y="575980"/>
              <a:ext cx="952427" cy="1222878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5DA736B-D835-7619-6C8B-803CD5C40A63}"/>
                </a:ext>
              </a:extLst>
            </p:cNvPr>
            <p:cNvSpPr txBox="1"/>
            <p:nvPr/>
          </p:nvSpPr>
          <p:spPr>
            <a:xfrm>
              <a:off x="5531370" y="1798858"/>
              <a:ext cx="19037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Evaluar para Avanzar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6DFF1E4-B143-4C54-19A9-D042F56322B3}"/>
              </a:ext>
            </a:extLst>
          </p:cNvPr>
          <p:cNvGrpSpPr/>
          <p:nvPr/>
        </p:nvGrpSpPr>
        <p:grpSpPr>
          <a:xfrm>
            <a:off x="7566702" y="250402"/>
            <a:ext cx="2470167" cy="2289012"/>
            <a:chOff x="7583443" y="250402"/>
            <a:chExt cx="2470167" cy="2289012"/>
          </a:xfrm>
        </p:grpSpPr>
        <p:sp>
          <p:nvSpPr>
            <p:cNvPr id="14" name="Diagrama de flujo: conector 13">
              <a:extLst>
                <a:ext uri="{FF2B5EF4-FFF2-40B4-BE49-F238E27FC236}">
                  <a16:creationId xmlns:a16="http://schemas.microsoft.com/office/drawing/2014/main" id="{384D2956-026D-D887-6FE9-F9C748C45C79}"/>
                </a:ext>
              </a:extLst>
            </p:cNvPr>
            <p:cNvSpPr/>
            <p:nvPr/>
          </p:nvSpPr>
          <p:spPr>
            <a:xfrm>
              <a:off x="7583443" y="250402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15" name="Gráfico 14" descr="Libreta de direcciones con relleno sólido">
              <a:extLst>
                <a:ext uri="{FF2B5EF4-FFF2-40B4-BE49-F238E27FC236}">
                  <a16:creationId xmlns:a16="http://schemas.microsoft.com/office/drawing/2014/main" id="{65F59973-8277-D226-6748-FC683F6B1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14763" y="354284"/>
              <a:ext cx="1007526" cy="1222878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07757E73-323C-13B5-2CBC-2B593CFABA21}"/>
                </a:ext>
              </a:extLst>
            </p:cNvPr>
            <p:cNvSpPr txBox="1"/>
            <p:nvPr/>
          </p:nvSpPr>
          <p:spPr>
            <a:xfrm>
              <a:off x="8094689" y="1678898"/>
              <a:ext cx="1454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Con-tacto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EE90BBB-AC30-58F0-1133-0C873392DFB2}"/>
              </a:ext>
            </a:extLst>
          </p:cNvPr>
          <p:cNvGrpSpPr/>
          <p:nvPr/>
        </p:nvGrpSpPr>
        <p:grpSpPr>
          <a:xfrm>
            <a:off x="10043239" y="250402"/>
            <a:ext cx="2470167" cy="2289012"/>
            <a:chOff x="862984" y="2858691"/>
            <a:chExt cx="2470167" cy="2289012"/>
          </a:xfrm>
        </p:grpSpPr>
        <p:sp>
          <p:nvSpPr>
            <p:cNvPr id="20" name="Diagrama de flujo: conector 19">
              <a:extLst>
                <a:ext uri="{FF2B5EF4-FFF2-40B4-BE49-F238E27FC236}">
                  <a16:creationId xmlns:a16="http://schemas.microsoft.com/office/drawing/2014/main" id="{CD9632C2-6569-3356-A9A1-FAAC6B42DFF1}"/>
                </a:ext>
              </a:extLst>
            </p:cNvPr>
            <p:cNvSpPr/>
            <p:nvPr/>
          </p:nvSpPr>
          <p:spPr>
            <a:xfrm>
              <a:off x="862984" y="2858691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19" name="Gráfico 18" descr="Grupo con relleno sólido">
              <a:extLst>
                <a:ext uri="{FF2B5EF4-FFF2-40B4-BE49-F238E27FC236}">
                  <a16:creationId xmlns:a16="http://schemas.microsoft.com/office/drawing/2014/main" id="{915DC393-CC9D-300F-31D4-38E2EB387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12311" y="2858691"/>
              <a:ext cx="1385514" cy="1385514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3B994AB-A863-B41B-8B73-3E0CC05C6FCF}"/>
                </a:ext>
              </a:extLst>
            </p:cNvPr>
            <p:cNvSpPr txBox="1"/>
            <p:nvPr/>
          </p:nvSpPr>
          <p:spPr>
            <a:xfrm>
              <a:off x="1004341" y="4003197"/>
              <a:ext cx="22437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Plan de Acción: Convivencia Escolar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22C0B74-6CF4-3880-765D-AE202EB09183}"/>
              </a:ext>
            </a:extLst>
          </p:cNvPr>
          <p:cNvGrpSpPr/>
          <p:nvPr/>
        </p:nvGrpSpPr>
        <p:grpSpPr>
          <a:xfrm>
            <a:off x="-7114" y="2601708"/>
            <a:ext cx="2470513" cy="2289012"/>
            <a:chOff x="2732641" y="2952384"/>
            <a:chExt cx="2470513" cy="2289012"/>
          </a:xfrm>
        </p:grpSpPr>
        <p:sp>
          <p:nvSpPr>
            <p:cNvPr id="24" name="Diagrama de flujo: conector 23">
              <a:extLst>
                <a:ext uri="{FF2B5EF4-FFF2-40B4-BE49-F238E27FC236}">
                  <a16:creationId xmlns:a16="http://schemas.microsoft.com/office/drawing/2014/main" id="{A93EA686-2F3C-6640-B179-D27F29D82E98}"/>
                </a:ext>
              </a:extLst>
            </p:cNvPr>
            <p:cNvSpPr/>
            <p:nvPr/>
          </p:nvSpPr>
          <p:spPr>
            <a:xfrm>
              <a:off x="2732641" y="2952384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23" name="Gráfico 22" descr="Aula de clases con relleno sólido">
              <a:extLst>
                <a:ext uri="{FF2B5EF4-FFF2-40B4-BE49-F238E27FC236}">
                  <a16:creationId xmlns:a16="http://schemas.microsoft.com/office/drawing/2014/main" id="{E2B90B2E-E8BC-D37D-AA95-908B7A41B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08420" y="3017698"/>
              <a:ext cx="1118610" cy="1222878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C56FD892-1FEB-B721-B6FD-096998CA8D74}"/>
                </a:ext>
              </a:extLst>
            </p:cNvPr>
            <p:cNvSpPr txBox="1"/>
            <p:nvPr/>
          </p:nvSpPr>
          <p:spPr>
            <a:xfrm>
              <a:off x="2732641" y="4096890"/>
              <a:ext cx="24705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Excelencia Docente - Capacitación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3A45FCD8-D5C1-AF8F-4A8B-81621B950414}"/>
              </a:ext>
            </a:extLst>
          </p:cNvPr>
          <p:cNvGrpSpPr/>
          <p:nvPr/>
        </p:nvGrpSpPr>
        <p:grpSpPr>
          <a:xfrm>
            <a:off x="2449283" y="2737657"/>
            <a:ext cx="2470167" cy="2289012"/>
            <a:chOff x="2449283" y="2737657"/>
            <a:chExt cx="2470167" cy="2289012"/>
          </a:xfrm>
        </p:grpSpPr>
        <p:sp>
          <p:nvSpPr>
            <p:cNvPr id="28" name="Diagrama de flujo: conector 27">
              <a:extLst>
                <a:ext uri="{FF2B5EF4-FFF2-40B4-BE49-F238E27FC236}">
                  <a16:creationId xmlns:a16="http://schemas.microsoft.com/office/drawing/2014/main" id="{D440433D-F979-4D9E-5670-8EF8CD312ED1}"/>
                </a:ext>
              </a:extLst>
            </p:cNvPr>
            <p:cNvSpPr/>
            <p:nvPr/>
          </p:nvSpPr>
          <p:spPr>
            <a:xfrm>
              <a:off x="2449283" y="2737657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27" name="Gráfico 26" descr="Lupa con relleno sólido">
              <a:extLst>
                <a:ext uri="{FF2B5EF4-FFF2-40B4-BE49-F238E27FC236}">
                  <a16:creationId xmlns:a16="http://schemas.microsoft.com/office/drawing/2014/main" id="{1B73C01F-D451-3622-B613-F65C2661B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193607" y="2757004"/>
              <a:ext cx="1008712" cy="1222878"/>
            </a:xfrm>
            <a:prstGeom prst="rect">
              <a:avLst/>
            </a:prstGeom>
          </p:spPr>
        </p:pic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9114AEF6-15B1-2772-A8A3-DAD56D6F22E4}"/>
                </a:ext>
              </a:extLst>
            </p:cNvPr>
            <p:cNvSpPr txBox="1"/>
            <p:nvPr/>
          </p:nvSpPr>
          <p:spPr>
            <a:xfrm>
              <a:off x="2686126" y="3844304"/>
              <a:ext cx="202367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Seguimiento Proceso Alternancia</a:t>
              </a: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30A2B349-A499-34D4-6A82-89B47ACB48A6}"/>
              </a:ext>
            </a:extLst>
          </p:cNvPr>
          <p:cNvGrpSpPr/>
          <p:nvPr/>
        </p:nvGrpSpPr>
        <p:grpSpPr>
          <a:xfrm>
            <a:off x="5164945" y="2856253"/>
            <a:ext cx="2470167" cy="2289012"/>
            <a:chOff x="5164945" y="2856253"/>
            <a:chExt cx="2470167" cy="2289012"/>
          </a:xfrm>
        </p:grpSpPr>
        <p:sp>
          <p:nvSpPr>
            <p:cNvPr id="18" name="Diagrama de flujo: conector 17">
              <a:extLst>
                <a:ext uri="{FF2B5EF4-FFF2-40B4-BE49-F238E27FC236}">
                  <a16:creationId xmlns:a16="http://schemas.microsoft.com/office/drawing/2014/main" id="{2F79554F-B920-8768-E27C-AA914E2AB745}"/>
                </a:ext>
              </a:extLst>
            </p:cNvPr>
            <p:cNvSpPr/>
            <p:nvPr/>
          </p:nvSpPr>
          <p:spPr>
            <a:xfrm>
              <a:off x="5164945" y="2856253"/>
              <a:ext cx="2470167" cy="2289012"/>
            </a:xfrm>
            <a:prstGeom prst="flowChartConnector">
              <a:avLst/>
            </a:prstGeom>
            <a:solidFill>
              <a:srgbClr val="05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2" name="Gráfico 31" descr="Persona con idea con relleno sólido">
              <a:extLst>
                <a:ext uri="{FF2B5EF4-FFF2-40B4-BE49-F238E27FC236}">
                  <a16:creationId xmlns:a16="http://schemas.microsoft.com/office/drawing/2014/main" id="{1243BD30-DE1F-2944-5338-217EB7DA3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726634" y="2959182"/>
              <a:ext cx="1346787" cy="1346787"/>
            </a:xfrm>
            <a:prstGeom prst="rect">
              <a:avLst/>
            </a:prstGeom>
          </p:spPr>
        </p:pic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D67408F3-03B3-A81E-B5CE-9F2B47C02A08}"/>
                </a:ext>
              </a:extLst>
            </p:cNvPr>
            <p:cNvSpPr txBox="1"/>
            <p:nvPr/>
          </p:nvSpPr>
          <p:spPr>
            <a:xfrm>
              <a:off x="5417018" y="4185190"/>
              <a:ext cx="1966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Quiero Ser, Quiero Saber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0126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75</Words>
  <Application>Microsoft Office PowerPoint</Application>
  <PresentationFormat>Panorámica</PresentationFormat>
  <Paragraphs>27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 MARTINEZ MURILLO</dc:creator>
  <cp:lastModifiedBy>Santiago Hoyos Gómez</cp:lastModifiedBy>
  <cp:revision>21</cp:revision>
  <dcterms:created xsi:type="dcterms:W3CDTF">2025-05-06T16:38:19Z</dcterms:created>
  <dcterms:modified xsi:type="dcterms:W3CDTF">2026-01-15T16:09:58Z</dcterms:modified>
</cp:coreProperties>
</file>